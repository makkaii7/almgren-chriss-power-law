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12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11480" cy="32004"/>
          </a:xfrm>
          <a:prstGeom prst="rect">
            <a:avLst/>
          </a:prstGeom>
          <a:solidFill>
            <a:srgbClr val="C9A449"/>
          </a:solidFill>
          <a:ln w="12700">
            <a:solidFill>
              <a:srgbClr val="C9A44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109728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 612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612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OPTIMIZATION IN FINANCE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Execution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E8D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Power-Law Market Impact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640080" cy="2286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Almgren-Chriss model from linear to empirical power-law 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Almehairbi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Alhmoudi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Yerkin ·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two opposing costs.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1,000,000</a:t>
            </a:r>
            <a:endParaRPr lang="en-US" sz="36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to liquidate over 50 half-hour periods.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840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864" cy="123444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fast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crash the price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long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exposed to volatility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3977640" cy="2834640"/>
          </a:xfrm>
          <a:prstGeom prst="rect">
            <a:avLst/>
          </a:prstGeom>
          <a:solidFill>
            <a:srgbClr val="0A1F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  Σ [ η·|v</a:t>
            </a:r>
            <a:r>
              <a:rPr lang="en-US" sz="17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r>
              <a:rPr lang="en-US" sz="1700" i="1" baseline="30000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1+β</a:t>
            </a: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γσ²x</a:t>
            </a:r>
            <a:r>
              <a:rPr lang="en-US" sz="17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700" i="1" baseline="3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</a:t>
            </a: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]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92040" y="2971800"/>
            <a:ext cx="36576" cy="18288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98348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you trade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2971800"/>
            <a:ext cx="36576" cy="18288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690372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penalty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you hold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611880"/>
            <a:ext cx="3657600" cy="13716"/>
          </a:xfrm>
          <a:prstGeom prst="rect">
            <a:avLst/>
          </a:prstGeom>
          <a:solidFill>
            <a:srgbClr val="2A3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489204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</a:t>
            </a: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exponent    </a:t>
            </a:r>
            <a:r>
              <a:rPr lang="en-US" sz="11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γ </a:t>
            </a: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aversion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</a:t>
            </a: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coeff.      </a:t>
            </a:r>
            <a:r>
              <a:rPr lang="en-US" sz="11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 </a:t>
            </a: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Linear Baseline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1.0  →  Quadratic Program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 · v</a:t>
            </a:r>
            <a:r>
              <a:rPr lang="en-US" sz="1700" i="1" baseline="30000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</a:t>
            </a:r>
            <a:r>
              <a:rPr lang="en-US" sz="12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impact is quadratic in trade size.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931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3152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500" i="1" baseline="-40000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500" i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=  X · sinh(κ(N − k)) / sinh(κN)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√( γσ² / η )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controls curvature.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8221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20,000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shares per period.</a:t>
            </a:r>
            <a:endParaRPr lang="en-US" sz="2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Near-TWAP at professor's γ = 2.5e-6.</a:t>
            </a:r>
            <a:endParaRPr lang="en-US" sz="2200" dirty="0"/>
          </a:p>
        </p:txBody>
      </p:sp>
      <p:pic>
        <p:nvPicPr>
          <p:cNvPr id="12" name="Image 0" descr="linear_trajec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1554480"/>
            <a:ext cx="3977640" cy="2971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00600" y="4526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inventory trajectory · linear model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Aversion Controls Urgency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γ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dial that balances impact cost against risk penalty.</a:t>
            </a:r>
            <a:endParaRPr lang="en-US" sz="1400" dirty="0"/>
          </a:p>
        </p:txBody>
      </p:sp>
      <p:pic>
        <p:nvPicPr>
          <p:cNvPr id="5" name="Image 0" descr="linear_trade_rate_sensitiv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74520"/>
            <a:ext cx="804672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69080"/>
            <a:ext cx="2606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41148" cy="64008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713232" y="41422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γ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45079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selling — TWAP.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4069080"/>
            <a:ext cx="2606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3246120" y="4069080"/>
            <a:ext cx="41148" cy="64008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3410712" y="41422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γ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10712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Tapered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10712" y="45079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front-loading.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4069080"/>
            <a:ext cx="2606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4"/>
          <p:cNvSpPr/>
          <p:nvPr/>
        </p:nvSpPr>
        <p:spPr>
          <a:xfrm>
            <a:off x="5943600" y="4069080"/>
            <a:ext cx="41148" cy="64008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6108192" y="41422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γ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08192" y="43251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Panicked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08192" y="45079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most early, flatten fast.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Linear Impact Is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research — the </a:t>
            </a:r>
            <a:r>
              <a:rPr lang="en-US" sz="1300" b="1" i="1" dirty="0">
                <a:solidFill>
                  <a:srgbClr val="10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"Square Root Law"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shows real market impact follows a power law with </a:t>
            </a:r>
            <a:r>
              <a:rPr lang="en-US" sz="1300" b="1" i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≈ 0.5–0.6.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∝ v</a:t>
            </a:r>
            <a:r>
              <a:rPr lang="en-US" sz="2800" i="1" baseline="30000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Convex: big trades are punished quadratically.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3931920" cy="1417320"/>
          </a:xfrm>
          <a:prstGeom prst="rect">
            <a:avLst/>
          </a:prstGeom>
          <a:solidFill>
            <a:srgbClr val="0A1F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892040" y="2176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MODEL (reality)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23957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∝ |v|</a:t>
            </a:r>
            <a:r>
              <a:rPr lang="en-US" sz="2800" i="1" baseline="30000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Concave: big trades cost less than the linear model fears.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8046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A TRADE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says cost → </a:t>
            </a:r>
            <a:r>
              <a:rPr lang="en-US" sz="15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4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Power-law says cost → </a:t>
            </a:r>
            <a:r>
              <a:rPr lang="en-US" sz="1500" b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3</a:t>
            </a: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linear model is unnecessarily scared of big trades.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Power-Law Model — β = 0.6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914400"/>
          </a:xfrm>
          <a:prstGeom prst="rect">
            <a:avLst/>
          </a:prstGeom>
          <a:solidFill>
            <a:srgbClr val="0A1F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749808" y="1719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 Σ [ η·|v</a:t>
            </a:r>
            <a:r>
              <a:rPr lang="en-US" sz="18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r>
              <a:rPr lang="en-US" sz="1800" i="1" baseline="30000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</a:t>
            </a: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γσ²x</a:t>
            </a:r>
            <a:r>
              <a:rPr lang="en-US" sz="18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1800" i="1" baseline="3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²</a:t>
            </a: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scipy.optimize.minimize · SLSQP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 intermediate x_k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 = X,   x_N =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1.0 recovers linear (&lt; 0.08%)</a:t>
            </a:r>
            <a:endParaRPr lang="en-US" sz="1100" dirty="0"/>
          </a:p>
        </p:txBody>
      </p:sp>
      <p:pic>
        <p:nvPicPr>
          <p:cNvPr id="15" name="Image 0" descr="power_law_trajec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1554480"/>
            <a:ext cx="3977640" cy="2971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00600" y="4526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inventory trajectory · power-law (β = 0.6)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AT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vs Power-Law Result</a:t>
            </a:r>
            <a:endParaRPr lang="en-US" sz="3200" dirty="0"/>
          </a:p>
        </p:txBody>
      </p:sp>
      <p:pic>
        <p:nvPicPr>
          <p:cNvPr id="4" name="Image 0" descr="trajectory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53035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600200"/>
            <a:ext cx="269748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3"/>
          <p:cNvSpPr/>
          <p:nvPr/>
        </p:nvSpPr>
        <p:spPr>
          <a:xfrm>
            <a:off x="626364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GAP AT BASELINE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2103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26364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0.10% over optimum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3383280"/>
            <a:ext cx="365760" cy="18288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626364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β = 0.6 and γ = 2.5e-6 both models produce near-TWAP trajectories.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PUNCHLINE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market is more non-linear,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D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linear model breaks down.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β = 0.3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optimum — the linear strategy costs DOUBLE.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0.6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     0.1%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178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0.5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41788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$1,288  3%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3799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0.4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4379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$3,578  15.5%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5811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0.3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4581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$10,184 103%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160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7" name="Image 0" descr="cost_gap_vs_bet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920240"/>
            <a:ext cx="4069080" cy="2651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3A5078"/>
                </a:solidFill>
              </a:rPr>
              <a:t>|</a:t>
            </a:r>
            <a:r>
              <a:rPr lang="en-US" sz="900" dirty="0">
                <a:solidFill>
                  <a:srgbClr val="8A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3A5078"/>
                </a:solidFill>
              </a:rPr>
              <a:t>|</a:t>
            </a:r>
            <a:r>
              <a:rPr lang="en-US" sz="900" dirty="0">
                <a:solidFill>
                  <a:srgbClr val="8A9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DIMENSION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Choice Matters Most Under Urgency</a:t>
            </a:r>
            <a:endParaRPr lang="en-US" sz="3200" dirty="0"/>
          </a:p>
        </p:txBody>
      </p:sp>
      <p:pic>
        <p:nvPicPr>
          <p:cNvPr id="4" name="Image 0" descr="gamma_sensitivity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804672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3192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41148" cy="77724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713232" y="4041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γ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3232" y="42611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agree — near TWAP.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393192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3246120" y="3931920"/>
            <a:ext cx="41148" cy="77724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3410712" y="4041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γ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10712" y="42611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visible divergence in shape.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393192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5943600" y="3931920"/>
            <a:ext cx="41148" cy="777240"/>
          </a:xfrm>
          <a:prstGeom prst="rect">
            <a:avLst/>
          </a:prstGeom>
          <a:solidFill>
            <a:srgbClr val="C9A4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6108192" y="4041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γ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08192" y="42611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diverge meaningfully.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0876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is convenient.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Program with a closed-form sinh solution. Easy to solve, easy to teach.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2496312"/>
            <a:ext cx="7315200" cy="9144"/>
          </a:xfrm>
          <a:prstGeom prst="rect">
            <a:avLst/>
          </a:prstGeom>
          <a:solidFill>
            <a:srgbClr val="D8D3C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5087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Power-law is reality.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impact scales as |v|^β with β ≈ 0.5–0.6. Big trades cost less than linear predicts.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08760" y="3456432"/>
            <a:ext cx="7315200" cy="9144"/>
          </a:xfrm>
          <a:prstGeom prst="rect">
            <a:avLst/>
          </a:prstGeom>
          <a:solidFill>
            <a:srgbClr val="D8D3C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5087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error is non-uniform.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baseline parameters, &lt; 0.1%. But it EXPLODES as β decreases or γ increases — up to 103%.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solidFill>
            <a:srgbClr val="0A1F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85800" y="4544568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execution desks must calibrate impact models empirically — never assume linearity.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Almgren, R. &amp; Chriss, N. (2000). Optimal execution of portfolio transactions. Journal of Risk, 3(2), 5–39.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58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Almgren, R., Thum, C., Hauptmann, E., &amp; Li, H. (2005). Direct estimation of equity market impact. Risk, 18(7), 58–62.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25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8254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Bouchaud, J.-P. (2010). Price impact. Encyclopedia of Quantitative Finance.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924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3924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Cornuéjols, G. &amp; Tütüncü, R. (2007). Optimization Methods in Finance. Cambridge University Press. (course textbook)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NumPy  ·  SciPy (SLSQP)  ·  Matplotlib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 &amp; Mohamed   </a:t>
            </a:r>
            <a:r>
              <a:rPr lang="en-US" sz="900" dirty="0">
                <a:solidFill>
                  <a:srgbClr val="D8D3C4"/>
                </a:solidFill>
              </a:rPr>
              <a:t>|</a:t>
            </a: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CODS 612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826</Words>
  <Application>Microsoft Macintosh PowerPoint</Application>
  <PresentationFormat>On-screen Show 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Execution with Power-Law Market Impact</dc:title>
  <dc:subject>PptxGenJS Presentation</dc:subject>
  <dc:creator>Ali &amp; Mohamed</dc:creator>
  <cp:lastModifiedBy>Ali Almehairbi</cp:lastModifiedBy>
  <cp:revision>2</cp:revision>
  <dcterms:created xsi:type="dcterms:W3CDTF">2026-04-23T18:41:09Z</dcterms:created>
  <dcterms:modified xsi:type="dcterms:W3CDTF">2026-04-23T19:13:00Z</dcterms:modified>
</cp:coreProperties>
</file>